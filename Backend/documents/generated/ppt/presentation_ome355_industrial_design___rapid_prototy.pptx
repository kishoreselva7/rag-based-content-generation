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01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38BDF8"/>
                </a:solidFill>
              </a:defRPr>
            </a:pPr>
            <a:r>
              <a:t>OME355 INDUSTRIAL DESIGN &amp; RAPID PROTOTYPING TECHNIQUES</a:t>
            </a:r>
          </a:p>
          <a:p>
            <a:pPr algn="l">
              <a:defRPr sz="2200">
                <a:solidFill>
                  <a:srgbClr val="CBD5E1"/>
                </a:solidFill>
              </a:defRPr>
            </a:pPr>
            <a:r>
              <a:t>Course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Slide 1: Course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583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</a:defRPr>
            </a:pPr>
            <a:r>
              <a:t>• Integrate industrial design principles with rapid prototyping techniques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</a:defRPr>
            </a:pPr>
            <a:r>
              <a:t>• Focus on UI/UX fundamentals, app development, and electronic circuit design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</a:defRPr>
            </a:pPr>
            <a:r>
              <a:t>• Cover mechanical and electronic rapid prototyping methods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</a:defRPr>
            </a:pPr>
            <a:r>
              <a:t>• Emphasize iterative design and fabrication processes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589520" y="1463040"/>
            <a:ext cx="3840480" cy="2286000"/>
          </a:xfrm>
          <a:prstGeom prst="rect">
            <a:avLst/>
          </a:prstGeom>
          <a:solidFill>
            <a:srgbClr val="1E293B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A855F7"/>
                </a:solidFill>
              </a:defRPr>
            </a:pPr>
            <a:r>
              <a:t>💡 Real-World Example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Smartphone design with 3D-printed components and embedded electronics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7589520" y="3931920"/>
            <a:ext cx="3840480" cy="2103120"/>
          </a:xfrm>
          <a:prstGeom prst="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38BDF8"/>
                </a:solidFill>
              </a:defRPr>
            </a:pPr>
            <a:r>
              <a:t>📌 Slide Summary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Introduction to the course's interdisciplinary approach to design and prototyping.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Slide 2: UI/UX Fundamentals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583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</a:defRPr>
            </a:pPr>
            <a:r>
              <a:t>• Fundamental concepts in UI/UX design principles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</a:defRPr>
            </a:pPr>
            <a:r>
              <a:t>• Tools for wireframing and user interface layout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</a:defRPr>
            </a:pPr>
            <a:r>
              <a:t>• Psychology and human factors in user experience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</a:defRPr>
            </a:pPr>
            <a:r>
              <a:t>• Color theory and information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589520" y="1463040"/>
            <a:ext cx="3840480" cy="2286000"/>
          </a:xfrm>
          <a:prstGeom prst="rect">
            <a:avLst/>
          </a:prstGeom>
          <a:solidFill>
            <a:srgbClr val="1E293B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A855F7"/>
                </a:solidFill>
              </a:defRPr>
            </a:pPr>
            <a:r>
              <a:t>💡 Real-World Example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Mobile app interface for a fitness tracking application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589520" y="3931920"/>
            <a:ext cx="3840480" cy="2103120"/>
          </a:xfrm>
          <a:prstGeom prst="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38BDF8"/>
                </a:solidFill>
              </a:defRPr>
            </a:pPr>
            <a:r>
              <a:t>📌 Slide Summary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Foundations of creating user-centered digital experiences.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Slide 3: App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583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</a:defRPr>
            </a:pPr>
            <a:r>
              <a:t>• Software development lifecycle (SDLC) overview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</a:defRPr>
            </a:pPr>
            <a:r>
              <a:t>• Frontend/backend architecture and API integration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</a:defRPr>
            </a:pPr>
            <a:r>
              <a:t>• Cloud services setup and data management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</a:defRPr>
            </a:pPr>
            <a:r>
              <a:t>• Embedding machine learning models in apps</a:t>
            </a:r>
          </a:p>
        </p:txBody>
      </p:sp>
      <p:sp>
        <p:nvSpPr>
          <p:cNvPr id="4" name="Rectangle 3"/>
          <p:cNvSpPr/>
          <p:nvPr/>
        </p:nvSpPr>
        <p:spPr>
          <a:xfrm>
            <a:off x="7589520" y="1463040"/>
            <a:ext cx="3840480" cy="2286000"/>
          </a:xfrm>
          <a:prstGeom prst="rect">
            <a:avLst/>
          </a:prstGeom>
          <a:solidFill>
            <a:srgbClr val="1E293B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A855F7"/>
                </a:solidFill>
              </a:defRPr>
            </a:pPr>
            <a:r>
              <a:t>💡 Real-World Example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Weather app with real-time data and ML-based forecasts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589520" y="3931920"/>
            <a:ext cx="3840480" cy="2103120"/>
          </a:xfrm>
          <a:prstGeom prst="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38BDF8"/>
                </a:solidFill>
              </a:defRPr>
            </a:pPr>
            <a:r>
              <a:t>📌 Slide Summary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Key concepts in building functional and scalable mobile applications.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Slide 4: Industrial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583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</a:defRPr>
            </a:pPr>
            <a:r>
              <a:t>• Introduction to industrial design principles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</a:defRPr>
            </a:pPr>
            <a:r>
              <a:t>• Sketching and concept generation techniques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</a:defRPr>
            </a:pPr>
            <a:r>
              <a:t>• Transition from sketch to CAD modeling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</a:defRPr>
            </a:pPr>
            <a:r>
              <a:t>• Product design basics and dimensioning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589520" y="1463040"/>
            <a:ext cx="3840480" cy="2286000"/>
          </a:xfrm>
          <a:prstGeom prst="rect">
            <a:avLst/>
          </a:prstGeom>
          <a:solidFill>
            <a:srgbClr val="1E293B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A855F7"/>
                </a:solidFill>
              </a:defRPr>
            </a:pPr>
            <a:r>
              <a:t>💡 Real-World Example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Ergonomic desk lamp design using CAD tools</a:t>
            </a:r>
          </a:p>
        </p:txBody>
      </p:sp>
      <p:sp>
        <p:nvSpPr>
          <p:cNvPr id="5" name="Rectangle 4"/>
          <p:cNvSpPr/>
          <p:nvPr/>
        </p:nvSpPr>
        <p:spPr>
          <a:xfrm>
            <a:off x="7589520" y="3931920"/>
            <a:ext cx="3840480" cy="2103120"/>
          </a:xfrm>
          <a:prstGeom prst="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38BDF8"/>
                </a:solidFill>
              </a:defRPr>
            </a:pPr>
            <a:r>
              <a:t>📌 Slide Summary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Core skills for translating ideas into physical products.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Slide 5: Mechanical Prototyping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583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</a:defRPr>
            </a:pPr>
            <a:r>
              <a:t>• Need for prototyping vs. manufacturing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</a:defRPr>
            </a:pPr>
            <a:r>
              <a:t>• 3D printing technologies and classification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</a:defRPr>
            </a:pPr>
            <a:r>
              <a:t>• Laser cutting and engraving applications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</a:defRPr>
            </a:pPr>
            <a:r>
              <a:t>• Additive manufacturing tools like RD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7589520" y="1463040"/>
            <a:ext cx="3840480" cy="2286000"/>
          </a:xfrm>
          <a:prstGeom prst="rect">
            <a:avLst/>
          </a:prstGeom>
          <a:solidFill>
            <a:srgbClr val="1E293B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A855F7"/>
                </a:solidFill>
              </a:defRPr>
            </a:pPr>
            <a:r>
              <a:t>💡 Real-World Example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Rapid prototyping of a mechanical gear assembly</a:t>
            </a:r>
          </a:p>
        </p:txBody>
      </p:sp>
      <p:sp>
        <p:nvSpPr>
          <p:cNvPr id="5" name="Rectangle 4"/>
          <p:cNvSpPr/>
          <p:nvPr/>
        </p:nvSpPr>
        <p:spPr>
          <a:xfrm>
            <a:off x="7589520" y="3931920"/>
            <a:ext cx="3840480" cy="2103120"/>
          </a:xfrm>
          <a:prstGeom prst="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38BDF8"/>
                </a:solidFill>
              </a:defRPr>
            </a:pPr>
            <a:r>
              <a:t>📌 Slide Summary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Techniques for creating physical prototypes of mechanical systems.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Slide 6: Electronic Prototyping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583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</a:defRPr>
            </a:pPr>
            <a:r>
              <a:t>• Basics of electronic circuit design and lumped circuits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</a:defRPr>
            </a:pPr>
            <a:r>
              <a:t>• Simulation tools for circuit testing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</a:defRPr>
            </a:pPr>
            <a:r>
              <a:t>• PCB design using EDA software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</a:defRPr>
            </a:pPr>
            <a:r>
              <a:t>• Integration of circuits with microcontrollers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7589520" y="1463040"/>
            <a:ext cx="3840480" cy="2286000"/>
          </a:xfrm>
          <a:prstGeom prst="rect">
            <a:avLst/>
          </a:prstGeom>
          <a:solidFill>
            <a:srgbClr val="1E293B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A855F7"/>
                </a:solidFill>
              </a:defRPr>
            </a:pPr>
            <a:r>
              <a:t>💡 Real-World Example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Smart sensor node with embedded microcontroller</a:t>
            </a:r>
          </a:p>
        </p:txBody>
      </p:sp>
      <p:sp>
        <p:nvSpPr>
          <p:cNvPr id="5" name="Rectangle 4"/>
          <p:cNvSpPr/>
          <p:nvPr/>
        </p:nvSpPr>
        <p:spPr>
          <a:xfrm>
            <a:off x="7589520" y="3931920"/>
            <a:ext cx="3840480" cy="2103120"/>
          </a:xfrm>
          <a:prstGeom prst="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38BDF8"/>
                </a:solidFill>
              </a:defRPr>
            </a:pPr>
            <a:r>
              <a:t>📌 Slide Summary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Practical methods for designing and fabricating electronic devices.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Slide 7: Course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583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</a:defRPr>
            </a:pPr>
            <a:r>
              <a:t>• Outline UI/UX fundamentals and mobile app design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</a:defRPr>
            </a:pPr>
            <a:r>
              <a:t>• Introduce CAD for product design and prototyping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</a:defRPr>
            </a:pPr>
            <a:r>
              <a:t>• Explain prototyping tool selection and usage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</a:defRPr>
            </a:pPr>
            <a:r>
              <a:t>• Cover electronic circuit design and fabrication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589520" y="1463040"/>
            <a:ext cx="3840480" cy="2286000"/>
          </a:xfrm>
          <a:prstGeom prst="rect">
            <a:avLst/>
          </a:prstGeom>
          <a:solidFill>
            <a:srgbClr val="1E293B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A855F7"/>
                </a:solidFill>
              </a:defRPr>
            </a:pPr>
            <a:r>
              <a:t>💡 Real-World Example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User interface prototype for a health monitoring app</a:t>
            </a:r>
          </a:p>
        </p:txBody>
      </p:sp>
      <p:sp>
        <p:nvSpPr>
          <p:cNvPr id="5" name="Rectangle 4"/>
          <p:cNvSpPr/>
          <p:nvPr/>
        </p:nvSpPr>
        <p:spPr>
          <a:xfrm>
            <a:off x="7589520" y="3931920"/>
            <a:ext cx="3840480" cy="2103120"/>
          </a:xfrm>
          <a:prstGeom prst="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38BDF8"/>
                </a:solidFill>
              </a:defRPr>
            </a:pPr>
            <a:r>
              <a:t>📌 Slide Summary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Key learning goals aligned with industry practices.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Slide 8: Course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583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</a:defRPr>
            </a:pPr>
            <a:r>
              <a:t>• Create UI/UX prototypes for customer needs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</a:defRPr>
            </a:pPr>
            <a:r>
              <a:t>• Develop web apps to test product features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</a:defRPr>
            </a:pPr>
            <a:r>
              <a:t>• Generate 3D models for product prototyping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</a:defRPr>
            </a:pPr>
            <a:r>
              <a:t>• Build prototypes using iterative methodologies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589520" y="1463040"/>
            <a:ext cx="3840480" cy="2286000"/>
          </a:xfrm>
          <a:prstGeom prst="rect">
            <a:avLst/>
          </a:prstGeom>
          <a:solidFill>
            <a:srgbClr val="1E293B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A855F7"/>
                </a:solidFill>
              </a:defRPr>
            </a:pPr>
            <a:r>
              <a:t>💡 Real-World Example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3D-printed prototype of a consumer electronics device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589520" y="3931920"/>
            <a:ext cx="3840480" cy="2103120"/>
          </a:xfrm>
          <a:prstGeom prst="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38BDF8"/>
                </a:solidFill>
              </a:defRPr>
            </a:pPr>
            <a:r>
              <a:t>📌 Slide Summary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Expected competencies after completing the course.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Slide 9: Tools &amp; Techniques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583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</a:defRPr>
            </a:pPr>
            <a:r>
              <a:t>• Autodesk Fusion 360 for CAD modeling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</a:defRPr>
            </a:pPr>
            <a:r>
              <a:t>• Simulation tools for circuit design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</a:defRPr>
            </a:pPr>
            <a:r>
              <a:t>• Cloud-based development environments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</a:defRPr>
            </a:pPr>
            <a:r>
              <a:t>• 3D printing and laser cutting technologies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589520" y="1463040"/>
            <a:ext cx="3840480" cy="2286000"/>
          </a:xfrm>
          <a:prstGeom prst="rect">
            <a:avLst/>
          </a:prstGeom>
          <a:solidFill>
            <a:srgbClr val="1E293B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A855F7"/>
                </a:solidFill>
              </a:defRPr>
            </a:pPr>
            <a:r>
              <a:t>💡 Real-World Example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Fusion 360 workflow for product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7589520" y="3931920"/>
            <a:ext cx="3840480" cy="2103120"/>
          </a:xfrm>
          <a:prstGeom prst="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38BDF8"/>
                </a:solidFill>
              </a:defRPr>
            </a:pPr>
            <a:r>
              <a:t>📌 Slide Summary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Essential tools for design, simulation, and fabrication.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Slide 10: Case Study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583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</a:defRPr>
            </a:pPr>
            <a:r>
              <a:t>• Design a smart home device with embedded electronics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</a:defRPr>
            </a:pPr>
            <a:r>
              <a:t>• Prototype using 3D printing and PCB fabrication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</a:defRPr>
            </a:pPr>
            <a:r>
              <a:t>• Test UI/UX through web app iterations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</a:defRPr>
            </a:pPr>
            <a:r>
              <a:t>• Refine product based on user feedback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7589520" y="1463040"/>
            <a:ext cx="3840480" cy="2286000"/>
          </a:xfrm>
          <a:prstGeom prst="rect">
            <a:avLst/>
          </a:prstGeom>
          <a:solidFill>
            <a:srgbClr val="1E293B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A855F7"/>
                </a:solidFill>
              </a:defRPr>
            </a:pPr>
            <a:r>
              <a:t>💡 Real-World Example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Smart thermostat with 3D-printed housing and circuit integration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589520" y="3931920"/>
            <a:ext cx="3840480" cy="2103120"/>
          </a:xfrm>
          <a:prstGeom prst="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38BDF8"/>
                </a:solidFill>
              </a:defRPr>
            </a:pPr>
            <a:r>
              <a:t>📌 Slide Summary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Integration of all course topics in a real-world project.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Slide 11: Methodologies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583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</a:defRPr>
            </a:pPr>
            <a:r>
              <a:t>• Iterative design and rapid prototyping cycles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</a:defRPr>
            </a:pPr>
            <a:r>
              <a:t>• User-centered design processes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</a:defRPr>
            </a:pPr>
            <a:r>
              <a:t>• Agile development for app and circuit design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</a:defRPr>
            </a:pPr>
            <a:r>
              <a:t>• Cross-disciplinary collaboration techniques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589520" y="1463040"/>
            <a:ext cx="3840480" cy="2286000"/>
          </a:xfrm>
          <a:prstGeom prst="rect">
            <a:avLst/>
          </a:prstGeom>
          <a:solidFill>
            <a:srgbClr val="1E293B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A855F7"/>
                </a:solidFill>
              </a:defRPr>
            </a:pPr>
            <a:r>
              <a:t>💡 Real-World Example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Sprint-based prototyping of a wearable device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589520" y="3931920"/>
            <a:ext cx="3840480" cy="2103120"/>
          </a:xfrm>
          <a:prstGeom prst="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38BDF8"/>
                </a:solidFill>
              </a:defRPr>
            </a:pPr>
            <a:r>
              <a:t>📌 Slide Summary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Frameworks for efficient and effective design implementation.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Slide 12: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583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</a:defRPr>
            </a:pPr>
            <a:r>
              <a:t>• Combine industrial design with digital fabrication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</a:defRPr>
            </a:pPr>
            <a:r>
              <a:t>• Master rapid prototyping across mechanical and electronic domains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</a:defRPr>
            </a:pPr>
            <a:r>
              <a:t>• Develop user-centric solutions through iterative testing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</a:defRPr>
            </a:pPr>
            <a:r>
              <a:t>• Prepare for industry challenges in product development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589520" y="1463040"/>
            <a:ext cx="3840480" cy="2286000"/>
          </a:xfrm>
          <a:prstGeom prst="rect">
            <a:avLst/>
          </a:prstGeom>
          <a:solidFill>
            <a:srgbClr val="1E293B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A855F7"/>
                </a:solidFill>
              </a:defRPr>
            </a:pPr>
            <a:r>
              <a:t>💡 Real-World Example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End-to-end prototyping of a sustainable product</a:t>
            </a:r>
          </a:p>
        </p:txBody>
      </p:sp>
      <p:sp>
        <p:nvSpPr>
          <p:cNvPr id="5" name="Rectangle 4"/>
          <p:cNvSpPr/>
          <p:nvPr/>
        </p:nvSpPr>
        <p:spPr>
          <a:xfrm>
            <a:off x="7589520" y="3931920"/>
            <a:ext cx="3840480" cy="2103120"/>
          </a:xfrm>
          <a:prstGeom prst="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38BDF8"/>
                </a:solidFill>
              </a:defRPr>
            </a:pPr>
            <a:r>
              <a:t>📌 Slide Summary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Synthesis of course concepts for practical application.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