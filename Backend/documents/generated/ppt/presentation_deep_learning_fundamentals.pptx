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6015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38BDF8"/>
                </a:solidFill>
              </a:defRPr>
            </a:pPr>
            <a:r>
              <a:t>deep learning Fundamentals</a:t>
            </a:r>
          </a:p>
          <a:p>
            <a:pPr algn="l">
              <a:defRPr sz="2200">
                <a:solidFill>
                  <a:srgbClr val="CBD5E1"/>
                </a:solidFill>
              </a:defRPr>
            </a:pPr>
            <a:r>
              <a:t>Course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8BDF8"/>
                </a:solidFill>
              </a:defRPr>
            </a:pPr>
            <a:r>
              <a:t>Slide 1: Introduction to Deep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6583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F8FAFC"/>
                </a:solidFill>
              </a:defRPr>
            </a:pPr>
            <a:r>
              <a:t>• Historical trends in deep learning evolution</a:t>
            </a:r>
          </a:p>
          <a:p>
            <a:pPr>
              <a:spcAft>
                <a:spcPts val="1400"/>
              </a:spcAft>
              <a:defRPr sz="1800">
                <a:solidFill>
                  <a:srgbClr val="F8FAFC"/>
                </a:solidFill>
              </a:defRPr>
            </a:pPr>
            <a:r>
              <a:t>• Growing importance due to computational power and data availability</a:t>
            </a:r>
          </a:p>
          <a:p>
            <a:pPr>
              <a:spcAft>
                <a:spcPts val="1400"/>
              </a:spcAft>
              <a:defRPr sz="1800">
                <a:solidFill>
                  <a:srgbClr val="F8FAFC"/>
                </a:solidFill>
              </a:defRPr>
            </a:pPr>
            <a:r>
              <a:t>• Artificial Neural Networks (ANNs) as core components</a:t>
            </a:r>
          </a:p>
          <a:p>
            <a:pPr>
              <a:spcAft>
                <a:spcPts val="1400"/>
              </a:spcAft>
              <a:defRPr sz="1800">
                <a:solidFill>
                  <a:srgbClr val="F8FAFC"/>
                </a:solidFill>
              </a:defRPr>
            </a:pPr>
            <a:r>
              <a:t>• Non-linear classification example: XOR/XNOR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7589520" y="1463040"/>
            <a:ext cx="3840480" cy="2286000"/>
          </a:xfrm>
          <a:prstGeom prst="rect">
            <a:avLst/>
          </a:prstGeom>
          <a:solidFill>
            <a:srgbClr val="1E293B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A855F7"/>
                </a:solidFill>
              </a:defRPr>
            </a:pPr>
            <a:r>
              <a:t>💡 Real-World Example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Image recognition using neural networks</a:t>
            </a:r>
          </a:p>
        </p:txBody>
      </p:sp>
      <p:sp>
        <p:nvSpPr>
          <p:cNvPr id="5" name="Rectangle 4"/>
          <p:cNvSpPr/>
          <p:nvPr/>
        </p:nvSpPr>
        <p:spPr>
          <a:xfrm>
            <a:off x="7589520" y="3931920"/>
            <a:ext cx="3840480" cy="2103120"/>
          </a:xfrm>
          <a:prstGeom prst="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38BDF8"/>
                </a:solidFill>
              </a:defRPr>
            </a:pPr>
            <a:r>
              <a:t>📌 Slide Summary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Overview of deep learning's historical context and foundational concepts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8BDF8"/>
                </a:solidFill>
              </a:defRPr>
            </a:pPr>
            <a:r>
              <a:t>Slide 2: Neural Network Basics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6583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F8FAFC"/>
                </a:solidFill>
              </a:defRPr>
            </a:pPr>
            <a:r>
              <a:t>• Single-layer perceptron for linear classification</a:t>
            </a:r>
          </a:p>
          <a:p>
            <a:pPr>
              <a:spcAft>
                <a:spcPts val="1400"/>
              </a:spcAft>
              <a:defRPr sz="1800">
                <a:solidFill>
                  <a:srgbClr val="F8FAFC"/>
                </a:solidFill>
              </a:defRPr>
            </a:pPr>
            <a:r>
              <a:t>• Multi-layer perceptron for non-linear problems</a:t>
            </a:r>
          </a:p>
          <a:p>
            <a:pPr>
              <a:spcAft>
                <a:spcPts val="1400"/>
              </a:spcAft>
              <a:defRPr sz="1800">
                <a:solidFill>
                  <a:srgbClr val="F8FAFC"/>
                </a:solidFill>
              </a:defRPr>
            </a:pPr>
            <a:r>
              <a:t>• Feed-forward network architecture</a:t>
            </a:r>
          </a:p>
          <a:p>
            <a:pPr>
              <a:spcAft>
                <a:spcPts val="1400"/>
              </a:spcAft>
              <a:defRPr sz="1800">
                <a:solidFill>
                  <a:srgbClr val="F8FAFC"/>
                </a:solidFill>
              </a:defRPr>
            </a:pPr>
            <a:r>
              <a:t>• Role of hidden units in complexity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7589520" y="1463040"/>
            <a:ext cx="3840480" cy="2286000"/>
          </a:xfrm>
          <a:prstGeom prst="rect">
            <a:avLst/>
          </a:prstGeom>
          <a:solidFill>
            <a:srgbClr val="1E293B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A855F7"/>
                </a:solidFill>
              </a:defRPr>
            </a:pPr>
            <a:r>
              <a:t>💡 Real-World Example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Handwritten digit recognition (MNIST dataset)</a:t>
            </a:r>
          </a:p>
        </p:txBody>
      </p:sp>
      <p:sp>
        <p:nvSpPr>
          <p:cNvPr id="5" name="Rectangle 4"/>
          <p:cNvSpPr/>
          <p:nvPr/>
        </p:nvSpPr>
        <p:spPr>
          <a:xfrm>
            <a:off x="7589520" y="3931920"/>
            <a:ext cx="3840480" cy="2103120"/>
          </a:xfrm>
          <a:prstGeom prst="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38BDF8"/>
                </a:solidFill>
              </a:defRPr>
            </a:pPr>
            <a:r>
              <a:t>📌 Slide Summary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Core components and capabilities of neural networks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8BDF8"/>
                </a:solidFill>
              </a:defRPr>
            </a:pPr>
            <a:r>
              <a:t>Slide 3: Training and Optimization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6583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F8FAFC"/>
                </a:solidFill>
              </a:defRPr>
            </a:pPr>
            <a:r>
              <a:t>• Stochastic Gradient Descent (SGD) methodology</a:t>
            </a:r>
          </a:p>
          <a:p>
            <a:pPr>
              <a:spcAft>
                <a:spcPts val="1400"/>
              </a:spcAft>
              <a:defRPr sz="1800">
                <a:solidFill>
                  <a:srgbClr val="F8FAFC"/>
                </a:solidFill>
              </a:defRPr>
            </a:pPr>
            <a:r>
              <a:t>• Backpropagation algorithm for error correction</a:t>
            </a:r>
          </a:p>
          <a:p>
            <a:pPr>
              <a:spcAft>
                <a:spcPts val="1400"/>
              </a:spcAft>
              <a:defRPr sz="1800">
                <a:solidFill>
                  <a:srgbClr val="F8FAFC"/>
                </a:solidFill>
              </a:defRPr>
            </a:pPr>
            <a:r>
              <a:t>• Architecture design considerations</a:t>
            </a:r>
          </a:p>
          <a:p>
            <a:pPr>
              <a:spcAft>
                <a:spcPts val="1400"/>
              </a:spcAft>
              <a:defRPr sz="1800">
                <a:solidFill>
                  <a:srgbClr val="F8FAFC"/>
                </a:solidFill>
              </a:defRPr>
            </a:pPr>
            <a:r>
              <a:t>• Weight initialization techniques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589520" y="1463040"/>
            <a:ext cx="3840480" cy="2286000"/>
          </a:xfrm>
          <a:prstGeom prst="rect">
            <a:avLst/>
          </a:prstGeom>
          <a:solidFill>
            <a:srgbClr val="1E293B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A855F7"/>
                </a:solidFill>
              </a:defRPr>
            </a:pPr>
            <a:r>
              <a:t>💡 Real-World Example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Speech recognition system training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7589520" y="3931920"/>
            <a:ext cx="3840480" cy="2103120"/>
          </a:xfrm>
          <a:prstGeom prst="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38BDF8"/>
                </a:solidFill>
              </a:defRPr>
            </a:pPr>
            <a:r>
              <a:t>📌 Slide Summary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Key principles of neural network training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8BDF8"/>
                </a:solidFill>
              </a:defRPr>
            </a:pPr>
            <a:r>
              <a:t>Slide 4: Deep Feed-Forward Networks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6583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F8FAFC"/>
                </a:solidFill>
              </a:defRPr>
            </a:pPr>
            <a:r>
              <a:t>• Layer stacking for increased model capacity</a:t>
            </a:r>
          </a:p>
          <a:p>
            <a:pPr>
              <a:spcAft>
                <a:spcPts val="1400"/>
              </a:spcAft>
              <a:defRPr sz="1800">
                <a:solidFill>
                  <a:srgbClr val="F8FAFC"/>
                </a:solidFill>
              </a:defRPr>
            </a:pPr>
            <a:r>
              <a:t>• Activation function selection (ReLU, sigmoid)</a:t>
            </a:r>
          </a:p>
          <a:p>
            <a:pPr>
              <a:spcAft>
                <a:spcPts val="1400"/>
              </a:spcAft>
              <a:defRPr sz="1800">
                <a:solidFill>
                  <a:srgbClr val="F8FAFC"/>
                </a:solidFill>
              </a:defRPr>
            </a:pPr>
            <a:r>
              <a:t>• Vanishing gradient problem mitigation</a:t>
            </a:r>
          </a:p>
          <a:p>
            <a:pPr>
              <a:spcAft>
                <a:spcPts val="1400"/>
              </a:spcAft>
              <a:defRPr sz="1800">
                <a:solidFill>
                  <a:srgbClr val="F8FAFC"/>
                </a:solidFill>
              </a:defRPr>
            </a:pPr>
            <a:r>
              <a:t>• Regularization techniques (dropout)</a:t>
            </a:r>
          </a:p>
        </p:txBody>
      </p:sp>
      <p:sp>
        <p:nvSpPr>
          <p:cNvPr id="4" name="Rectangle 3"/>
          <p:cNvSpPr/>
          <p:nvPr/>
        </p:nvSpPr>
        <p:spPr>
          <a:xfrm>
            <a:off x="7589520" y="1463040"/>
            <a:ext cx="3840480" cy="2286000"/>
          </a:xfrm>
          <a:prstGeom prst="rect">
            <a:avLst/>
          </a:prstGeom>
          <a:solidFill>
            <a:srgbClr val="1E293B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A855F7"/>
                </a:solidFill>
              </a:defRPr>
            </a:pPr>
            <a:r>
              <a:t>💡 Real-World Example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Object detection in computer vision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589520" y="3931920"/>
            <a:ext cx="3840480" cy="2103120"/>
          </a:xfrm>
          <a:prstGeom prst="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38BDF8"/>
                </a:solidFill>
              </a:defRPr>
            </a:pPr>
            <a:r>
              <a:t>📌 Slide Summary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Advanced architectures for complex pattern recognition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8BDF8"/>
                </a:solidFill>
              </a:defRPr>
            </a:pPr>
            <a:r>
              <a:t>Slide 5: Convolutional Neural Networks (CNNs)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6583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F8FAFC"/>
                </a:solidFill>
              </a:defRPr>
            </a:pPr>
            <a:r>
              <a:t>• Convolutional layers for feature extraction</a:t>
            </a:r>
          </a:p>
          <a:p>
            <a:pPr>
              <a:spcAft>
                <a:spcPts val="1400"/>
              </a:spcAft>
              <a:defRPr sz="1800">
                <a:solidFill>
                  <a:srgbClr val="F8FAFC"/>
                </a:solidFill>
              </a:defRPr>
            </a:pPr>
            <a:r>
              <a:t>• Pooling operations for spatial dimension reduction</a:t>
            </a:r>
          </a:p>
          <a:p>
            <a:pPr>
              <a:spcAft>
                <a:spcPts val="1400"/>
              </a:spcAft>
              <a:defRPr sz="1800">
                <a:solidFill>
                  <a:srgbClr val="F8FAFC"/>
                </a:solidFill>
              </a:defRPr>
            </a:pPr>
            <a:r>
              <a:t>• Filter size and stride parameters</a:t>
            </a:r>
          </a:p>
          <a:p>
            <a:pPr>
              <a:spcAft>
                <a:spcPts val="1400"/>
              </a:spcAft>
              <a:defRPr sz="1800">
                <a:solidFill>
                  <a:srgbClr val="F8FAFC"/>
                </a:solidFill>
              </a:defRPr>
            </a:pPr>
            <a:r>
              <a:t>• Applications in image processing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589520" y="1463040"/>
            <a:ext cx="3840480" cy="2286000"/>
          </a:xfrm>
          <a:prstGeom prst="rect">
            <a:avLst/>
          </a:prstGeom>
          <a:solidFill>
            <a:srgbClr val="1E293B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A855F7"/>
                </a:solidFill>
              </a:defRPr>
            </a:pPr>
            <a:r>
              <a:t>💡 Real-World Example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Image classification using CNNs</a:t>
            </a:r>
          </a:p>
        </p:txBody>
      </p:sp>
      <p:sp>
        <p:nvSpPr>
          <p:cNvPr id="5" name="Rectangle 4"/>
          <p:cNvSpPr/>
          <p:nvPr/>
        </p:nvSpPr>
        <p:spPr>
          <a:xfrm>
            <a:off x="7589520" y="3931920"/>
            <a:ext cx="3840480" cy="2103120"/>
          </a:xfrm>
          <a:prstGeom prst="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38BDF8"/>
                </a:solidFill>
              </a:defRPr>
            </a:pPr>
            <a:r>
              <a:t>📌 Slide Summary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Specialized architectures for grid-like data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8BDF8"/>
                </a:solidFill>
              </a:defRPr>
            </a:pPr>
            <a:r>
              <a:t>Slide 6: Recurrent Neural Networks (RNNs)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6583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F8FAFC"/>
                </a:solidFill>
              </a:defRPr>
            </a:pPr>
            <a:r>
              <a:t>• Sequential data processing capabilities</a:t>
            </a:r>
          </a:p>
          <a:p>
            <a:pPr>
              <a:spcAft>
                <a:spcPts val="1400"/>
              </a:spcAft>
              <a:defRPr sz="1800">
                <a:solidFill>
                  <a:srgbClr val="F8FAFC"/>
                </a:solidFill>
              </a:defRPr>
            </a:pPr>
            <a:r>
              <a:t>• Hidden state for temporal dependencies</a:t>
            </a:r>
          </a:p>
          <a:p>
            <a:pPr>
              <a:spcAft>
                <a:spcPts val="1400"/>
              </a:spcAft>
              <a:defRPr sz="1800">
                <a:solidFill>
                  <a:srgbClr val="F8FAFC"/>
                </a:solidFill>
              </a:defRPr>
            </a:pPr>
            <a:r>
              <a:t>• Vanishing gradient challenges</a:t>
            </a:r>
          </a:p>
          <a:p>
            <a:pPr>
              <a:spcAft>
                <a:spcPts val="1400"/>
              </a:spcAft>
              <a:defRPr sz="1800">
                <a:solidFill>
                  <a:srgbClr val="F8FAFC"/>
                </a:solidFill>
              </a:defRPr>
            </a:pPr>
            <a:r>
              <a:t>• Applications in natural language processing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589520" y="1463040"/>
            <a:ext cx="3840480" cy="2286000"/>
          </a:xfrm>
          <a:prstGeom prst="rect">
            <a:avLst/>
          </a:prstGeom>
          <a:solidFill>
            <a:srgbClr val="1E293B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A855F7"/>
                </a:solidFill>
              </a:defRPr>
            </a:pPr>
            <a:r>
              <a:t>💡 Real-World Example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Sentiment analysis of text data</a:t>
            </a:r>
          </a:p>
        </p:txBody>
      </p:sp>
      <p:sp>
        <p:nvSpPr>
          <p:cNvPr id="5" name="Rectangle 4"/>
          <p:cNvSpPr/>
          <p:nvPr/>
        </p:nvSpPr>
        <p:spPr>
          <a:xfrm>
            <a:off x="7589520" y="3931920"/>
            <a:ext cx="3840480" cy="2103120"/>
          </a:xfrm>
          <a:prstGeom prst="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38BDF8"/>
                </a:solidFill>
              </a:defRPr>
            </a:pPr>
            <a:r>
              <a:t>📌 Slide Summary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Architectures for sequential pattern recognition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8BDF8"/>
                </a:solidFill>
              </a:defRPr>
            </a:pPr>
            <a:r>
              <a:t>Slide 7: Long Short-Term Memory (LSTM)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6583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F8FAFC"/>
                </a:solidFill>
              </a:defRPr>
            </a:pPr>
            <a:r>
              <a:t>• Memory cell for long-term dependency tracking</a:t>
            </a:r>
          </a:p>
          <a:p>
            <a:pPr>
              <a:spcAft>
                <a:spcPts val="1400"/>
              </a:spcAft>
              <a:defRPr sz="1800">
                <a:solidFill>
                  <a:srgbClr val="F8FAFC"/>
                </a:solidFill>
              </a:defRPr>
            </a:pPr>
            <a:r>
              <a:t>• Gating mechanisms (input, forget, output)</a:t>
            </a:r>
          </a:p>
          <a:p>
            <a:pPr>
              <a:spcAft>
                <a:spcPts val="1400"/>
              </a:spcAft>
              <a:defRPr sz="1800">
                <a:solidFill>
                  <a:srgbClr val="F8FAFC"/>
                </a:solidFill>
              </a:defRPr>
            </a:pPr>
            <a:r>
              <a:t>• Sequence-to-sequence modeling</a:t>
            </a:r>
          </a:p>
          <a:p>
            <a:pPr>
              <a:spcAft>
                <a:spcPts val="1400"/>
              </a:spcAft>
              <a:defRPr sz="1800">
                <a:solidFill>
                  <a:srgbClr val="F8FAFC"/>
                </a:solidFill>
              </a:defRPr>
            </a:pPr>
            <a:r>
              <a:t>• Applications in time series prediction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589520" y="1463040"/>
            <a:ext cx="3840480" cy="2286000"/>
          </a:xfrm>
          <a:prstGeom prst="rect">
            <a:avLst/>
          </a:prstGeom>
          <a:solidFill>
            <a:srgbClr val="1E293B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A855F7"/>
                </a:solidFill>
              </a:defRPr>
            </a:pPr>
            <a:r>
              <a:t>💡 Real-World Example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Stock price forecasting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7589520" y="3931920"/>
            <a:ext cx="3840480" cy="2103120"/>
          </a:xfrm>
          <a:prstGeom prst="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38BDF8"/>
                </a:solidFill>
              </a:defRPr>
            </a:pPr>
            <a:r>
              <a:t>📌 Slide Summary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Advanced RNN variant for temporal modeling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8BDF8"/>
                </a:solidFill>
              </a:defRPr>
            </a:pPr>
            <a:r>
              <a:t>Slide 8: Generative Adversarial Networks (GANs)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6583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F8FAFC"/>
                </a:solidFill>
              </a:defRPr>
            </a:pPr>
            <a:r>
              <a:t>• Generator vs. discriminator framework</a:t>
            </a:r>
          </a:p>
          <a:p>
            <a:pPr>
              <a:spcAft>
                <a:spcPts val="1400"/>
              </a:spcAft>
              <a:defRPr sz="1800">
                <a:solidFill>
                  <a:srgbClr val="F8FAFC"/>
                </a:solidFill>
              </a:defRPr>
            </a:pPr>
            <a:r>
              <a:t>• Minimax game for synthetic data creation</a:t>
            </a:r>
          </a:p>
          <a:p>
            <a:pPr>
              <a:spcAft>
                <a:spcPts val="1400"/>
              </a:spcAft>
              <a:defRPr sz="1800">
                <a:solidFill>
                  <a:srgbClr val="F8FAFC"/>
                </a:solidFill>
              </a:defRPr>
            </a:pPr>
            <a:r>
              <a:t>• Applications in image generation</a:t>
            </a:r>
          </a:p>
          <a:p>
            <a:pPr>
              <a:spcAft>
                <a:spcPts val="1400"/>
              </a:spcAft>
              <a:defRPr sz="1800">
                <a:solidFill>
                  <a:srgbClr val="F8FAFC"/>
                </a:solidFill>
              </a:defRPr>
            </a:pPr>
            <a:r>
              <a:t>• Challenges in training stability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7589520" y="1463040"/>
            <a:ext cx="3840480" cy="2286000"/>
          </a:xfrm>
          <a:prstGeom prst="rect">
            <a:avLst/>
          </a:prstGeom>
          <a:solidFill>
            <a:srgbClr val="1E293B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A855F7"/>
                </a:solidFill>
              </a:defRPr>
            </a:pPr>
            <a:r>
              <a:t>💡 Real-World Example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Deepfake image synthesis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7589520" y="3931920"/>
            <a:ext cx="3840480" cy="2103120"/>
          </a:xfrm>
          <a:prstGeom prst="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38BDF8"/>
                </a:solidFill>
              </a:defRPr>
            </a:pPr>
            <a:r>
              <a:t>📌 Slide Summary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Competitive models for generative tasks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8BDF8"/>
                </a:solidFill>
              </a:defRPr>
            </a:pPr>
            <a:r>
              <a:t>Slide 9: Auto-Encoders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6583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F8FAFC"/>
                </a:solidFill>
              </a:defRPr>
            </a:pPr>
            <a:r>
              <a:t>• Encoder-decoder architecture for data compression</a:t>
            </a:r>
          </a:p>
          <a:p>
            <a:pPr>
              <a:spcAft>
                <a:spcPts val="1400"/>
              </a:spcAft>
              <a:defRPr sz="1800">
                <a:solidFill>
                  <a:srgbClr val="F8FAFC"/>
                </a:solidFill>
              </a:defRPr>
            </a:pPr>
            <a:r>
              <a:t>• Reconstruction loss as training metric</a:t>
            </a:r>
          </a:p>
          <a:p>
            <a:pPr>
              <a:spcAft>
                <a:spcPts val="1400"/>
              </a:spcAft>
              <a:defRPr sz="1800">
                <a:solidFill>
                  <a:srgbClr val="F8FAFC"/>
                </a:solidFill>
              </a:defRPr>
            </a:pPr>
            <a:r>
              <a:t>• Unsupervised feature learning</a:t>
            </a:r>
          </a:p>
          <a:p>
            <a:pPr>
              <a:spcAft>
                <a:spcPts val="1400"/>
              </a:spcAft>
              <a:defRPr sz="1800">
                <a:solidFill>
                  <a:srgbClr val="F8FAFC"/>
                </a:solidFill>
              </a:defRPr>
            </a:pPr>
            <a:r>
              <a:t>• Integration with GANs for enhanced generation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589520" y="1463040"/>
            <a:ext cx="3840480" cy="2286000"/>
          </a:xfrm>
          <a:prstGeom prst="rect">
            <a:avLst/>
          </a:prstGeom>
          <a:solidFill>
            <a:srgbClr val="1E293B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A855F7"/>
                </a:solidFill>
              </a:defRPr>
            </a:pPr>
            <a:r>
              <a:t>💡 Real-World Example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Image denoising applications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7589520" y="3931920"/>
            <a:ext cx="3840480" cy="2103120"/>
          </a:xfrm>
          <a:prstGeom prst="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38BDF8"/>
                </a:solidFill>
              </a:defRPr>
            </a:pPr>
            <a:r>
              <a:t>📌 Slide Summary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Self-supervised learning for dimensionality reduction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8BDF8"/>
                </a:solidFill>
              </a:defRPr>
            </a:pPr>
            <a:r>
              <a:t>Slide 10: Deep Learning Applications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6583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F8FAFC"/>
                </a:solidFill>
              </a:defRPr>
            </a:pPr>
            <a:r>
              <a:t>• Computer vision (object detection)</a:t>
            </a:r>
          </a:p>
          <a:p>
            <a:pPr>
              <a:spcAft>
                <a:spcPts val="1400"/>
              </a:spcAft>
              <a:defRPr sz="1800">
                <a:solidFill>
                  <a:srgbClr val="F8FAFC"/>
                </a:solidFill>
              </a:defRPr>
            </a:pPr>
            <a:r>
              <a:t>• Natural language processing (translation)</a:t>
            </a:r>
          </a:p>
          <a:p>
            <a:pPr>
              <a:spcAft>
                <a:spcPts val="1400"/>
              </a:spcAft>
              <a:defRPr sz="1800">
                <a:solidFill>
                  <a:srgbClr val="F8FAFC"/>
                </a:solidFill>
              </a:defRPr>
            </a:pPr>
            <a:r>
              <a:t>• Speech recognition systems</a:t>
            </a:r>
          </a:p>
          <a:p>
            <a:pPr>
              <a:spcAft>
                <a:spcPts val="1400"/>
              </a:spcAft>
              <a:defRPr sz="1800">
                <a:solidFill>
                  <a:srgbClr val="F8FAFC"/>
                </a:solidFill>
              </a:defRPr>
            </a:pPr>
            <a:r>
              <a:t>• Recommendation engines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589520" y="1463040"/>
            <a:ext cx="3840480" cy="2286000"/>
          </a:xfrm>
          <a:prstGeom prst="rect">
            <a:avLst/>
          </a:prstGeom>
          <a:solidFill>
            <a:srgbClr val="1E293B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A855F7"/>
                </a:solidFill>
              </a:defRPr>
            </a:pPr>
            <a:r>
              <a:t>💡 Real-World Example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Autonomous vehicle perception systems</a:t>
            </a:r>
          </a:p>
        </p:txBody>
      </p:sp>
      <p:sp>
        <p:nvSpPr>
          <p:cNvPr id="5" name="Rectangle 4"/>
          <p:cNvSpPr/>
          <p:nvPr/>
        </p:nvSpPr>
        <p:spPr>
          <a:xfrm>
            <a:off x="7589520" y="3931920"/>
            <a:ext cx="3840480" cy="2103120"/>
          </a:xfrm>
          <a:prstGeom prst="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38BDF8"/>
                </a:solidFill>
              </a:defRPr>
            </a:pPr>
            <a:r>
              <a:t>📌 Slide Summary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Real-world implementations of deep learning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8BDF8"/>
                </a:solidFill>
              </a:defRPr>
            </a:pPr>
            <a:r>
              <a:t>Slide 11: Evaluation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6583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F8FAFC"/>
                </a:solidFill>
              </a:defRPr>
            </a:pPr>
            <a:r>
              <a:t>• Accuracy, precision, recall for classification</a:t>
            </a:r>
          </a:p>
          <a:p>
            <a:pPr>
              <a:spcAft>
                <a:spcPts val="1400"/>
              </a:spcAft>
              <a:defRPr sz="1800">
                <a:solidFill>
                  <a:srgbClr val="F8FAFC"/>
                </a:solidFill>
              </a:defRPr>
            </a:pPr>
            <a:r>
              <a:t>• F1-score for imbalanced datasets</a:t>
            </a:r>
          </a:p>
          <a:p>
            <a:pPr>
              <a:spcAft>
                <a:spcPts val="1400"/>
              </a:spcAft>
              <a:defRPr sz="1800">
                <a:solidFill>
                  <a:srgbClr val="F8FAFC"/>
                </a:solidFill>
              </a:defRPr>
            </a:pPr>
            <a:r>
              <a:t>• Mean Average Precision (mAP) for object detection</a:t>
            </a:r>
          </a:p>
          <a:p>
            <a:pPr>
              <a:spcAft>
                <a:spcPts val="1400"/>
              </a:spcAft>
              <a:defRPr sz="1800">
                <a:solidFill>
                  <a:srgbClr val="F8FAFC"/>
                </a:solidFill>
              </a:defRPr>
            </a:pPr>
            <a:r>
              <a:t>• Inception score for generative models</a:t>
            </a:r>
          </a:p>
        </p:txBody>
      </p:sp>
      <p:sp>
        <p:nvSpPr>
          <p:cNvPr id="4" name="Rectangle 3"/>
          <p:cNvSpPr/>
          <p:nvPr/>
        </p:nvSpPr>
        <p:spPr>
          <a:xfrm>
            <a:off x="7589520" y="1463040"/>
            <a:ext cx="3840480" cy="2286000"/>
          </a:xfrm>
          <a:prstGeom prst="rect">
            <a:avLst/>
          </a:prstGeom>
          <a:solidFill>
            <a:srgbClr val="1E293B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A855F7"/>
                </a:solidFill>
              </a:defRPr>
            </a:pPr>
            <a:r>
              <a:t>💡 Real-World Example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Benchmarking CNN architectures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589520" y="3931920"/>
            <a:ext cx="3840480" cy="2103120"/>
          </a:xfrm>
          <a:prstGeom prst="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38BDF8"/>
                </a:solidFill>
              </a:defRPr>
            </a:pPr>
            <a:r>
              <a:t>📌 Slide Summary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Quantifying model performance in different tasks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8BDF8"/>
                </a:solidFill>
              </a:defRPr>
            </a:pPr>
            <a:r>
              <a:t>Slide 12: Future Directions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6583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F8FAFC"/>
                </a:solidFill>
              </a:defRPr>
            </a:pPr>
            <a:r>
              <a:t>• Self-supervised learning paradigms</a:t>
            </a:r>
          </a:p>
          <a:p>
            <a:pPr>
              <a:spcAft>
                <a:spcPts val="1400"/>
              </a:spcAft>
              <a:defRPr sz="1800">
                <a:solidFill>
                  <a:srgbClr val="F8FAFC"/>
                </a:solidFill>
              </a:defRPr>
            </a:pPr>
            <a:r>
              <a:t>• Efficient model compression techniques</a:t>
            </a:r>
          </a:p>
          <a:p>
            <a:pPr>
              <a:spcAft>
                <a:spcPts val="1400"/>
              </a:spcAft>
              <a:defRPr sz="1800">
                <a:solidFill>
                  <a:srgbClr val="F8FAFC"/>
                </a:solidFill>
              </a:defRPr>
            </a:pPr>
            <a:r>
              <a:t>• Ethical AI considerations</a:t>
            </a:r>
          </a:p>
          <a:p>
            <a:pPr>
              <a:spcAft>
                <a:spcPts val="1400"/>
              </a:spcAft>
              <a:defRPr sz="1800">
                <a:solidFill>
                  <a:srgbClr val="F8FAFC"/>
                </a:solidFill>
              </a:defRPr>
            </a:pPr>
            <a:r>
              <a:t>• Quantum machine learning integration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589520" y="1463040"/>
            <a:ext cx="3840480" cy="2286000"/>
          </a:xfrm>
          <a:prstGeom prst="rect">
            <a:avLst/>
          </a:prstGeom>
          <a:solidFill>
            <a:srgbClr val="1E293B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A855F7"/>
                </a:solidFill>
              </a:defRPr>
            </a:pPr>
            <a:r>
              <a:t>💡 Real-World Example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Edge AI deployment for resource-constrained devices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589520" y="3931920"/>
            <a:ext cx="3840480" cy="2103120"/>
          </a:xfrm>
          <a:prstGeom prst="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38BDF8"/>
                </a:solidFill>
              </a:defRPr>
            </a:pPr>
            <a:r>
              <a:t>📌 Slide Summary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Emerging trends in deep learning research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